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56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9411C-AC7C-456A-982F-06A1EE081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1862DC-65AA-4828-BEA2-AF707C8F1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C3CE1-AB6B-4E74-84F2-E9C54D6F1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2BD4A3-2BBB-43D3-8EA8-68C73735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C93DC9-3C19-4060-BDE6-7DA535EC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93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FE420-9516-4731-A3C6-D4D87719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4FAA74-446D-4ACC-AA6B-D7906F74E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9983E7-67CF-4776-83B0-BE652CFD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7B5E90-E2C5-4D83-8F58-ED7405D7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8FAEE7-1555-4A34-A486-2C39504F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88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69120-CE92-4F88-ACFC-2C594BAD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0DDBA5-3B7C-4CA0-BD19-DC8ADFA7F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6A7BA6-B9F7-4421-8530-A2169221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2981E-1017-4FEC-BE97-1DDC1AB8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E8FFFD-066D-484A-A53B-8684C934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6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FBF74-3972-4864-890A-D5D013F2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791E12-C1F3-4DC6-A5E0-A03BC96007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BFFA1BA-1F7B-4B04-B115-99FC08208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F9AE72-329C-488B-B5EE-031A2ACC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904818-0DCD-4672-B6ED-B76A36D2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A62A03-E871-42DE-BF1E-8DD72060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85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DF878B-AEE2-4900-AD41-71475AB6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F57D6E-93DA-4F07-A18A-B066F3AB6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454505-7C68-48C2-B731-61D05CEBF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B1F60B-90BE-4943-808A-3DA65D6DA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33742C-3F1E-45C1-AFA4-4B88C36C8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F7A7391-FB17-4DD7-AB8F-AEC589FF4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985FC7-E336-497E-974A-D27D2F83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3300A59-A6EE-43DD-9C8A-38EEF095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8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A33487-DEA4-4708-93BF-5CB33EE2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A6B3488-0CE4-4C08-8E23-A22BE8E2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EA502B-502A-48B1-9F55-D6B9A704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83258C-7C34-4F84-90BE-E1E8E01F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43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A652B5-6424-4792-BE93-1AE5B3868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D8FBF1B-CB18-419A-8F67-9644A0853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E28303-46BD-4401-B057-AD1F428E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47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23702-4865-4073-A62C-4B8D21E62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8FCC0-2E35-4C3D-BB0C-24836097C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837637-743F-4F98-B821-B5080552E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F2C8AE-576F-4449-B9D1-BD66AD0F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515131-0E10-439B-8FF4-4A4662DC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B850BB-B2BE-49F4-B460-E61B5617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58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4A1109-3716-42F4-B73F-882D00D50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2508D44-9210-46D9-8632-B3C15AFF2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411027-A5DC-42AF-B491-913B920E7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2F39D8-E75C-41E7-A70E-ED99974D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CD79C8-3A07-47D3-BAED-59056351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B05393-9C46-4C8F-B33F-5C662D99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853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E5ECA-7218-4A62-B580-58EC4C2E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AF8533-0494-4A9C-8452-ED50C894F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22327-37EC-430F-9B13-E06273BB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B61117-3587-4C39-ABF9-B16B5EFF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752CEE-2618-4F6B-A12A-28B61D96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09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E6097A-0B29-4039-A6C0-065551531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E3F9ED1-AB92-48CA-A3FD-8DA3F3F06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02C21A-D24C-490E-A989-154E1F940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C2EB5D5-1541-4654-9BAF-594E6E57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178E5E-DB5D-4081-82FF-3156C5BB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886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9039B0-829E-4B79-B859-619A3BC7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0C090D-A77E-4257-B061-1A22322B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D92A6E-811F-4973-AF60-C4BDA566A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0566C-F85F-4B48-8229-76C0D9A8AF7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DC4330-B778-4DE8-A73A-02684AF46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A603A9-345D-4DA9-BFAB-5A8DCB56A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2312-6182-47B7-874D-E3031E7AF6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5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687E80-7C88-43C1-BACD-24519E4445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75A392-9E35-421F-BA38-31E07CDCA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DBD169-02ED-4140-9682-B9C4BF71E1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2" b="14243"/>
          <a:stretch/>
        </p:blipFill>
        <p:spPr>
          <a:xfrm>
            <a:off x="0" y="-1"/>
            <a:ext cx="12192000" cy="69826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EA52D5-D561-4D5B-BA92-748E0E432CE0}"/>
              </a:ext>
            </a:extLst>
          </p:cNvPr>
          <p:cNvSpPr txBox="1"/>
          <p:nvPr/>
        </p:nvSpPr>
        <p:spPr>
          <a:xfrm>
            <a:off x="7678724" y="2832385"/>
            <a:ext cx="43958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Gene expression, qPCR and so on</a:t>
            </a:r>
            <a:endParaRPr lang="ru-RU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6EA5D-A874-47D1-A8D0-6E5B41217131}"/>
              </a:ext>
            </a:extLst>
          </p:cNvPr>
          <p:cNvSpPr txBox="1"/>
          <p:nvPr/>
        </p:nvSpPr>
        <p:spPr>
          <a:xfrm>
            <a:off x="6316469" y="5089306"/>
            <a:ext cx="2892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Jun.res. of SIPPB SB RAS </a:t>
            </a:r>
          </a:p>
          <a:p>
            <a:r>
              <a:rPr lang="en-US" dirty="0"/>
              <a:t>Plan genetic engineering lab.</a:t>
            </a:r>
          </a:p>
          <a:p>
            <a:r>
              <a:rPr lang="en-US" dirty="0" err="1"/>
              <a:t>I.V.Gorbenko</a:t>
            </a:r>
            <a:endParaRPr lang="ru-RU" dirty="0"/>
          </a:p>
        </p:txBody>
      </p:sp>
      <p:pic>
        <p:nvPicPr>
          <p:cNvPr id="7" name="Picture 4" descr="Picture background">
            <a:extLst>
              <a:ext uri="{FF2B5EF4-FFF2-40B4-BE49-F238E27FC236}">
                <a16:creationId xmlns:a16="http://schemas.microsoft.com/office/drawing/2014/main" id="{BFAFA101-FDE6-4499-B342-CB59253D3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121" y="4756811"/>
            <a:ext cx="2225879" cy="222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618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E375B6-5860-43FC-BC69-EBC36B86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4" y="66099"/>
            <a:ext cx="10515600" cy="831524"/>
          </a:xfrm>
        </p:spPr>
        <p:txBody>
          <a:bodyPr/>
          <a:lstStyle/>
          <a:p>
            <a:r>
              <a:rPr lang="en-US" dirty="0"/>
              <a:t>What is a gene</a:t>
            </a:r>
            <a:r>
              <a:rPr lang="ru-RU" dirty="0"/>
              <a:t>?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6E376E3-B177-491C-948B-053004F792B7}"/>
              </a:ext>
            </a:extLst>
          </p:cNvPr>
          <p:cNvGrpSpPr/>
          <p:nvPr/>
        </p:nvGrpSpPr>
        <p:grpSpPr>
          <a:xfrm>
            <a:off x="38214" y="808924"/>
            <a:ext cx="4068661" cy="2954969"/>
            <a:chOff x="0" y="-2623105"/>
            <a:chExt cx="4344058" cy="3150635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E261EBA-7AD9-4B0B-A1DA-8B29C778F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2623105"/>
              <a:ext cx="4344058" cy="31506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95DC9A-738C-412A-B519-0F554A8FD3A4}"/>
                </a:ext>
              </a:extLst>
            </p:cNvPr>
            <p:cNvSpPr txBox="1"/>
            <p:nvPr/>
          </p:nvSpPr>
          <p:spPr>
            <a:xfrm>
              <a:off x="2587392" y="-2032933"/>
              <a:ext cx="76773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cDNA</a:t>
              </a:r>
              <a:endParaRPr lang="ru-RU" sz="135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D72088-FA50-490E-B74D-B3A99DB52E87}"/>
                </a:ext>
              </a:extLst>
            </p:cNvPr>
            <p:cNvSpPr txBox="1"/>
            <p:nvPr/>
          </p:nvSpPr>
          <p:spPr>
            <a:xfrm>
              <a:off x="2662198" y="-1021872"/>
              <a:ext cx="61811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CDS</a:t>
              </a:r>
              <a:endParaRPr lang="ru-RU" sz="1350" dirty="0"/>
            </a:p>
          </p:txBody>
        </p:sp>
      </p:grpSp>
      <p:pic>
        <p:nvPicPr>
          <p:cNvPr id="8" name="Picture 6" descr="Gene — Knowledge Hub">
            <a:extLst>
              <a:ext uri="{FF2B5EF4-FFF2-40B4-BE49-F238E27FC236}">
                <a16:creationId xmlns:a16="http://schemas.microsoft.com/office/drawing/2014/main" id="{7661CBC5-42BF-4CC3-91CE-09EF7BC6D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987" y="-367531"/>
            <a:ext cx="5276656" cy="2968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7A262027-74AC-4057-B969-A49CF91DC0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" r="47998" b="18154"/>
          <a:stretch/>
        </p:blipFill>
        <p:spPr bwMode="auto">
          <a:xfrm>
            <a:off x="7215599" y="2685976"/>
            <a:ext cx="4889523" cy="262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013354-DD96-4F9F-8877-AB357E2C2324}"/>
              </a:ext>
            </a:extLst>
          </p:cNvPr>
          <p:cNvSpPr txBox="1"/>
          <p:nvPr/>
        </p:nvSpPr>
        <p:spPr>
          <a:xfrm>
            <a:off x="9636364" y="5315471"/>
            <a:ext cx="250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(Miller and Beatty, 1969)</a:t>
            </a:r>
            <a:endParaRPr lang="ru-RU" dirty="0"/>
          </a:p>
        </p:txBody>
      </p:sp>
      <p:pic>
        <p:nvPicPr>
          <p:cNvPr id="1026" name="Picture 2" descr="3: mRNA transcription. Upon the opening of the DNA double helix at the... |  Download Scientific Diagram">
            <a:extLst>
              <a:ext uri="{FF2B5EF4-FFF2-40B4-BE49-F238E27FC236}">
                <a16:creationId xmlns:a16="http://schemas.microsoft.com/office/drawing/2014/main" id="{D1F5DB48-A8EC-4C7B-A7AE-AB4B8B325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0" y="3921897"/>
            <a:ext cx="7144105" cy="220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07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24F23-F287-4B2B-BF13-16807311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2" y="94664"/>
            <a:ext cx="10515600" cy="1325563"/>
          </a:xfrm>
        </p:spPr>
        <p:txBody>
          <a:bodyPr/>
          <a:lstStyle/>
          <a:p>
            <a:r>
              <a:rPr lang="en-US" dirty="0"/>
              <a:t>RNA isolation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2F5D0F-C1C4-4428-83E4-B15DB01C5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Picture 2" descr="ÐÐ°ÑÑÐ¸Ð½ÐºÐ¸ Ð¿Ð¾ Ð·Ð°Ð¿ÑÐ¾ÑÑ qiagen tissuelyser">
            <a:extLst>
              <a:ext uri="{FF2B5EF4-FFF2-40B4-BE49-F238E27FC236}">
                <a16:creationId xmlns:a16="http://schemas.microsoft.com/office/drawing/2014/main" id="{158092F4-1FAC-4223-B49E-76247311B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6" r="8313"/>
          <a:stretch/>
        </p:blipFill>
        <p:spPr bwMode="auto">
          <a:xfrm>
            <a:off x="0" y="1150688"/>
            <a:ext cx="4630723" cy="376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ÐÐ°ÑÑÐ¸Ð½ÐºÐ¸ Ð¿Ð¾ Ð·Ð°Ð¿ÑÐ¾ÑÑ plastic tube 1.5 molecular biology">
            <a:extLst>
              <a:ext uri="{FF2B5EF4-FFF2-40B4-BE49-F238E27FC236}">
                <a16:creationId xmlns:a16="http://schemas.microsoft.com/office/drawing/2014/main" id="{140B5256-2C9A-44CB-9D96-FF18A0CD4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11754"/>
            <a:ext cx="1946246" cy="194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ÐÐ¾ÑÐ¾Ð¶ÐµÐµ Ð¸Ð·Ð¾Ð±ÑÐ°Ð¶ÐµÐ½Ð¸Ðµ">
            <a:extLst>
              <a:ext uri="{FF2B5EF4-FFF2-40B4-BE49-F238E27FC236}">
                <a16:creationId xmlns:a16="http://schemas.microsoft.com/office/drawing/2014/main" id="{598ADA6A-8EED-439C-889C-D4839B3C2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740" y="226918"/>
            <a:ext cx="3764124" cy="291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135CC3-74B9-478C-9540-62BE87858E9E}"/>
              </a:ext>
            </a:extLst>
          </p:cNvPr>
          <p:cNvSpPr txBox="1"/>
          <p:nvPr/>
        </p:nvSpPr>
        <p:spPr>
          <a:xfrm>
            <a:off x="6021730" y="2332302"/>
            <a:ext cx="26131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Phenol</a:t>
            </a:r>
            <a:r>
              <a:rPr lang="ru-RU" dirty="0"/>
              <a:t> + </a:t>
            </a:r>
            <a:r>
              <a:rPr lang="en-US" dirty="0"/>
              <a:t>GITC</a:t>
            </a:r>
            <a:r>
              <a:rPr lang="ru-RU" dirty="0"/>
              <a:t>+</a:t>
            </a:r>
            <a:r>
              <a:rPr lang="en-US" dirty="0"/>
              <a:t>buffer</a:t>
            </a:r>
            <a:r>
              <a:rPr lang="ru-RU" dirty="0"/>
              <a:t>+</a:t>
            </a:r>
          </a:p>
          <a:p>
            <a:r>
              <a:rPr lang="en-US" dirty="0"/>
              <a:t>Ammonium thiocyanate </a:t>
            </a:r>
            <a:r>
              <a:rPr lang="ru-RU" dirty="0"/>
              <a:t>+</a:t>
            </a:r>
          </a:p>
          <a:p>
            <a:r>
              <a:rPr lang="en-US" dirty="0" err="1"/>
              <a:t>Sarkosyl</a:t>
            </a:r>
            <a:r>
              <a:rPr lang="ru-RU" dirty="0"/>
              <a:t>+</a:t>
            </a:r>
          </a:p>
          <a:p>
            <a:r>
              <a:rPr lang="en-US" dirty="0"/>
              <a:t>Beta</a:t>
            </a:r>
            <a:r>
              <a:rPr lang="ru-RU" dirty="0"/>
              <a:t>-М</a:t>
            </a:r>
            <a:r>
              <a:rPr lang="en-US" dirty="0"/>
              <a:t>E</a:t>
            </a:r>
            <a:r>
              <a:rPr lang="ru-RU" dirty="0"/>
              <a:t>+</a:t>
            </a:r>
          </a:p>
          <a:p>
            <a:r>
              <a:rPr lang="ru-RU" dirty="0"/>
              <a:t>8-</a:t>
            </a:r>
            <a:r>
              <a:rPr lang="en-US" dirty="0"/>
              <a:t>hydroxyquinoline</a:t>
            </a:r>
            <a:r>
              <a:rPr lang="ru-RU" dirty="0"/>
              <a:t>+</a:t>
            </a:r>
          </a:p>
          <a:p>
            <a:r>
              <a:rPr lang="en-US" dirty="0" err="1"/>
              <a:t>glycerine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CD0F36-0DFD-459B-BFB5-CA2C3EF7CC3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77" r="25865" b="15779"/>
          <a:stretch/>
        </p:blipFill>
        <p:spPr>
          <a:xfrm>
            <a:off x="8634882" y="0"/>
            <a:ext cx="3193595" cy="3695783"/>
          </a:xfrm>
          <a:prstGeom prst="rect">
            <a:avLst/>
          </a:prstGeom>
        </p:spPr>
      </p:pic>
      <p:pic>
        <p:nvPicPr>
          <p:cNvPr id="10" name="Picture 6" descr="ÐÐ°ÑÑÐ¸Ð½ÐºÐ¸ Ð¿Ð¾ Ð·Ð°Ð¿ÑÐ¾ÑÑ eppendorf centrifuge">
            <a:extLst>
              <a:ext uri="{FF2B5EF4-FFF2-40B4-BE49-F238E27FC236}">
                <a16:creationId xmlns:a16="http://schemas.microsoft.com/office/drawing/2014/main" id="{826960BB-6722-440D-B7ED-02D7DF2F7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700" y="4333737"/>
            <a:ext cx="3204594" cy="2403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ulti Vortex (многотрубочный миксер)">
            <a:extLst>
              <a:ext uri="{FF2B5EF4-FFF2-40B4-BE49-F238E27FC236}">
                <a16:creationId xmlns:a16="http://schemas.microsoft.com/office/drawing/2014/main" id="{F0A70627-3C06-4C31-AB36-D5B31E1A13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3" t="21216" r="20701" b="22829"/>
          <a:stretch/>
        </p:blipFill>
        <p:spPr bwMode="auto">
          <a:xfrm>
            <a:off x="4488111" y="4215606"/>
            <a:ext cx="2751589" cy="266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37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7E474-B474-4C86-9D3F-5DFBBB0D1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RNA quality control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1B4F26-65C0-4F61-BE6E-08017B6DF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2A51C7-0BEB-464A-B51F-CDFC7C09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6321"/>
            <a:ext cx="6255341" cy="41684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2AB2F0-858D-43D9-B27B-04BD056D8D5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87" b="8844"/>
          <a:stretch/>
        </p:blipFill>
        <p:spPr>
          <a:xfrm>
            <a:off x="6149806" y="1726321"/>
            <a:ext cx="6042194" cy="356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74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FE81B-B9BF-4ABA-8E5F-D5DFA492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cDNA synthesis and PCR start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0ADE74-1199-46F5-A098-316FD67E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2" descr="Картинки по запросу RT-PCR stages">
            <a:extLst>
              <a:ext uri="{FF2B5EF4-FFF2-40B4-BE49-F238E27FC236}">
                <a16:creationId xmlns:a16="http://schemas.microsoft.com/office/drawing/2014/main" id="{4BF1CE6F-E0BD-4CF1-84FB-60BBADB6C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5"/>
          <a:stretch/>
        </p:blipFill>
        <p:spPr bwMode="auto">
          <a:xfrm>
            <a:off x="121124" y="1825625"/>
            <a:ext cx="7093527" cy="365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CFX96 Dx Real-Time PCR Detection Systems for In Vitro Diagnostics (IVD) |  Bio-Rad">
            <a:extLst>
              <a:ext uri="{FF2B5EF4-FFF2-40B4-BE49-F238E27FC236}">
                <a16:creationId xmlns:a16="http://schemas.microsoft.com/office/drawing/2014/main" id="{C069BC00-8582-4B57-8E94-E29F82755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258" y="-138825"/>
            <a:ext cx="6984710" cy="392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Система ПЦР в реальном времени BIO-RAD CFX96 C1000Touch Б/у оборудование -  Exapro">
            <a:extLst>
              <a:ext uri="{FF2B5EF4-FFF2-40B4-BE49-F238E27FC236}">
                <a16:creationId xmlns:a16="http://schemas.microsoft.com/office/drawing/2014/main" id="{1AA95325-B1C2-499B-99A4-1CA9F8E48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7" r="16295" b="22749"/>
          <a:stretch/>
        </p:blipFill>
        <p:spPr bwMode="auto">
          <a:xfrm>
            <a:off x="7995276" y="3429000"/>
            <a:ext cx="3977382" cy="326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359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385824F-3F6B-4010-99AA-232E4C518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5400"/>
            <a:ext cx="10515600" cy="1325563"/>
          </a:xfrm>
        </p:spPr>
        <p:txBody>
          <a:bodyPr/>
          <a:lstStyle/>
          <a:p>
            <a:r>
              <a:rPr lang="en-US" dirty="0"/>
              <a:t>The PCR protocol 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81C0D7E-ED77-43F9-AC94-943181A36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Похожее изображение">
            <a:extLst>
              <a:ext uri="{FF2B5EF4-FFF2-40B4-BE49-F238E27FC236}">
                <a16:creationId xmlns:a16="http://schemas.microsoft.com/office/drawing/2014/main" id="{D3CC9F6C-FC0F-4155-9180-1D8E84AC4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017" y="3597316"/>
            <a:ext cx="7223143" cy="326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25B6DD-EE07-4A0E-BC16-63A0DBC8C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96" y="1077652"/>
            <a:ext cx="5803390" cy="25094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122" name="Picture 2" descr="SYBR® Green for qPCR | Bio-Rad">
            <a:extLst>
              <a:ext uri="{FF2B5EF4-FFF2-40B4-BE49-F238E27FC236}">
                <a16:creationId xmlns:a16="http://schemas.microsoft.com/office/drawing/2014/main" id="{A9531889-54D3-4EF8-88B9-42B5B8782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80418"/>
            <a:ext cx="3794401" cy="2744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E399413-D4D4-4831-8694-F8BFD1474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457" y="1622177"/>
            <a:ext cx="3057088" cy="225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Optimization of SYBR green in the agar dye capsule. Top figure-day... |  Download Scientific Diagram">
            <a:extLst>
              <a:ext uri="{FF2B5EF4-FFF2-40B4-BE49-F238E27FC236}">
                <a16:creationId xmlns:a16="http://schemas.microsoft.com/office/drawing/2014/main" id="{4A9BE6E1-1C38-4CF4-B5A8-46FF0279D7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" t="48685"/>
          <a:stretch/>
        </p:blipFill>
        <p:spPr bwMode="auto">
          <a:xfrm>
            <a:off x="8565160" y="4467455"/>
            <a:ext cx="3611168" cy="225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45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4BC67A2-535F-4BC2-9F8A-B232D20AB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AutoShape 4" descr="How do I interpret the qPCR plot to determine the cDNA amplification cycle  number?">
            <a:extLst>
              <a:ext uri="{FF2B5EF4-FFF2-40B4-BE49-F238E27FC236}">
                <a16:creationId xmlns:a16="http://schemas.microsoft.com/office/drawing/2014/main" id="{073EFFFC-E717-4B9C-91F4-1111343B82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2" name="Picture 6" descr="Разумный диапазон значений КТ в экспериментах по QPCR">
            <a:extLst>
              <a:ext uri="{FF2B5EF4-FFF2-40B4-BE49-F238E27FC236}">
                <a16:creationId xmlns:a16="http://schemas.microsoft.com/office/drawing/2014/main" id="{67289667-2DC0-4D16-83F5-FE66F0FDA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683" y="1943086"/>
            <a:ext cx="5883189" cy="491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748313-BAC0-4BBF-B223-AE34907EE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597" y="1681032"/>
            <a:ext cx="5883189" cy="25605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94866B-BDC9-47ED-A583-BE7D4BFAD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059" y="4370677"/>
            <a:ext cx="5883189" cy="24873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32E9D8-80EC-41D9-BBEC-9F687B706574}"/>
              </a:ext>
            </a:extLst>
          </p:cNvPr>
          <p:cNvSpPr txBox="1"/>
          <p:nvPr/>
        </p:nvSpPr>
        <p:spPr>
          <a:xfrm>
            <a:off x="1404248" y="248102"/>
            <a:ext cx="7485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Fluorescence graphs and what is the Ct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815460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CB522A-4009-4502-BAA1-0849073658D3}"/>
                  </a:ext>
                </a:extLst>
              </p:cNvPr>
              <p:cNvSpPr txBox="1"/>
              <p:nvPr/>
            </p:nvSpPr>
            <p:spPr>
              <a:xfrm>
                <a:off x="838200" y="653778"/>
                <a:ext cx="5422434" cy="69243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𝐹𝐶</m:t>
                    </m:r>
                    <m:r>
                      <a:rPr lang="en-US" sz="4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−∆∆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𝐶𝑡</m:t>
                        </m:r>
                      </m:sup>
                    </m:sSup>
                  </m:oMath>
                </a14:m>
                <a:r>
                  <a:rPr lang="en-US" sz="4400" dirty="0"/>
                  <a:t> </a:t>
                </a:r>
                <a:endParaRPr lang="ru-RU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CB522A-4009-4502-BAA1-084907365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53778"/>
                <a:ext cx="5422434" cy="6924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 descr="Rats in medical research">
            <a:extLst>
              <a:ext uri="{FF2B5EF4-FFF2-40B4-BE49-F238E27FC236}">
                <a16:creationId xmlns:a16="http://schemas.microsoft.com/office/drawing/2014/main" id="{F609281F-98CE-4A5C-8534-D649A08F25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1" t="22630" r="5183" b="4709"/>
          <a:stretch/>
        </p:blipFill>
        <p:spPr bwMode="auto">
          <a:xfrm>
            <a:off x="1031845" y="1694575"/>
            <a:ext cx="3436013" cy="216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Researchers successfully heal rats' broken spines | Popular Science">
            <a:extLst>
              <a:ext uri="{FF2B5EF4-FFF2-40B4-BE49-F238E27FC236}">
                <a16:creationId xmlns:a16="http://schemas.microsoft.com/office/drawing/2014/main" id="{4DDF44C5-CED2-48C9-88C0-D15FA1775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634" y="1694575"/>
            <a:ext cx="3915692" cy="220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EC86EC-DD31-4DB6-A23D-BED0D24EFCF0}"/>
                  </a:ext>
                </a:extLst>
              </p:cNvPr>
              <p:cNvSpPr txBox="1"/>
              <p:nvPr/>
            </p:nvSpPr>
            <p:spPr>
              <a:xfrm>
                <a:off x="3228740" y="4247524"/>
                <a:ext cx="5734519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800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𝐶𝑡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𝐶𝑡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𝐺𝑂𝐼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𝐶𝑡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𝑅𝐸𝐹</m:t>
                          </m:r>
                        </m:sub>
                      </m:sSub>
                    </m:oMath>
                  </m:oMathPara>
                </a14:m>
                <a:endParaRPr lang="ru-RU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EC86EC-DD31-4DB6-A23D-BED0D24E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740" y="4247524"/>
                <a:ext cx="5734519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D04010-0774-46DC-9C17-209AA00B5164}"/>
                  </a:ext>
                </a:extLst>
              </p:cNvPr>
              <p:cNvSpPr txBox="1"/>
              <p:nvPr/>
            </p:nvSpPr>
            <p:spPr>
              <a:xfrm>
                <a:off x="2589783" y="5163425"/>
                <a:ext cx="701243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4800" i="1" smtClean="0">
                          <a:latin typeface="Cambria Math" panose="02040503050406030204" pitchFamily="18" charset="0"/>
                        </a:rPr>
                        <m:t>∆∆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𝐶𝑡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800" i="1" smtClean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𝐶𝑡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𝑇𝐸𝑆𝑇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800" i="1" smtClean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𝐶𝑡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𝑊𝑇</m:t>
                          </m:r>
                        </m:sub>
                      </m:sSub>
                    </m:oMath>
                  </m:oMathPara>
                </a14:m>
                <a:endParaRPr lang="ru-RU" sz="4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D04010-0774-46DC-9C17-209AA00B5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783" y="5163425"/>
                <a:ext cx="7012432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10C6177-A5AF-4466-8A11-347127B9A8C3}"/>
              </a:ext>
            </a:extLst>
          </p:cNvPr>
          <p:cNvSpPr txBox="1"/>
          <p:nvPr/>
        </p:nvSpPr>
        <p:spPr>
          <a:xfrm>
            <a:off x="6260634" y="107145"/>
            <a:ext cx="49332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 – reference genes, expressed </a:t>
            </a:r>
            <a:r>
              <a:rPr lang="en-US" dirty="0" err="1"/>
              <a:t>constitutievely</a:t>
            </a:r>
            <a:r>
              <a:rPr lang="en-US" dirty="0"/>
              <a:t> (e.g. tubulin – a cytoskeleton microtubule protein)</a:t>
            </a:r>
            <a:endParaRPr lang="ru-RU" dirty="0"/>
          </a:p>
          <a:p>
            <a:r>
              <a:rPr lang="en-US" dirty="0"/>
              <a:t>GOI – Genes Of Interest, e.g. </a:t>
            </a:r>
            <a:r>
              <a:rPr lang="en-US" i="1" dirty="0"/>
              <a:t>NTF</a:t>
            </a:r>
            <a:endParaRPr lang="ru-RU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823C2-3A05-42DE-A449-A1E32AE7632D}"/>
              </a:ext>
            </a:extLst>
          </p:cNvPr>
          <p:cNvSpPr txBox="1"/>
          <p:nvPr/>
        </p:nvSpPr>
        <p:spPr>
          <a:xfrm>
            <a:off x="6260634" y="1346212"/>
            <a:ext cx="416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 learning the way through the labyrinth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EA99A-0FF9-4F7A-B818-E77FF3A40893}"/>
              </a:ext>
            </a:extLst>
          </p:cNvPr>
          <p:cNvSpPr txBox="1"/>
          <p:nvPr/>
        </p:nvSpPr>
        <p:spPr>
          <a:xfrm>
            <a:off x="1031845" y="1323786"/>
            <a:ext cx="153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 taking rest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6630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133</Words>
  <Application>Microsoft Office PowerPoint</Application>
  <PresentationFormat>Широкоэкранный</PresentationFormat>
  <Paragraphs>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Тема Office</vt:lpstr>
      <vt:lpstr>Презентация PowerPoint</vt:lpstr>
      <vt:lpstr>What is a gene?</vt:lpstr>
      <vt:lpstr>RNA isolation</vt:lpstr>
      <vt:lpstr>RNA quality control</vt:lpstr>
      <vt:lpstr>cDNA synthesis and PCR start</vt:lpstr>
      <vt:lpstr>The PCR protocol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Jerry Gordon</dc:creator>
  <cp:lastModifiedBy>Jerry Gordon</cp:lastModifiedBy>
  <cp:revision>24</cp:revision>
  <dcterms:created xsi:type="dcterms:W3CDTF">2026-03-04T13:26:55Z</dcterms:created>
  <dcterms:modified xsi:type="dcterms:W3CDTF">2026-03-12T11:19:35Z</dcterms:modified>
</cp:coreProperties>
</file>